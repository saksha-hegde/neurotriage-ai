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2E91202-7CC7-4F47-A22B-5AFD0B7F462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Supporting Slides" id="{B97FD124-E375-4065-8E30-13FB14C19237}">
          <p14:sldIdLst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167E98-9419-4D86-B342-3ED097069F36}" v="1" dt="2026-08-09T09:14:40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763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gde, Saksha B" userId="021f0db9-47f0-4d1c-808b-2544d642bd47" providerId="ADAL" clId="{06D5B9EE-2AB6-4B57-884C-8F94BC8EDAD9}"/>
    <pc:docChg chg="custSel addSld modSld addSection modSection">
      <pc:chgData name="Hegde, Saksha B" userId="021f0db9-47f0-4d1c-808b-2544d642bd47" providerId="ADAL" clId="{06D5B9EE-2AB6-4B57-884C-8F94BC8EDAD9}" dt="2026-08-09T09:19:01.044" v="67" actId="729"/>
      <pc:docMkLst>
        <pc:docMk/>
      </pc:docMkLst>
      <pc:sldChg chg="modSp mod">
        <pc:chgData name="Hegde, Saksha B" userId="021f0db9-47f0-4d1c-808b-2544d642bd47" providerId="ADAL" clId="{06D5B9EE-2AB6-4B57-884C-8F94BC8EDAD9}" dt="2026-08-09T09:14:41.879" v="63" actId="20577"/>
        <pc:sldMkLst>
          <pc:docMk/>
          <pc:sldMk cId="0" sldId="256"/>
        </pc:sldMkLst>
        <pc:spChg chg="mod">
          <ac:chgData name="Hegde, Saksha B" userId="021f0db9-47f0-4d1c-808b-2544d642bd47" providerId="ADAL" clId="{06D5B9EE-2AB6-4B57-884C-8F94BC8EDAD9}" dt="2026-08-09T09:14:41.879" v="63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Hegde, Saksha B" userId="021f0db9-47f0-4d1c-808b-2544d642bd47" providerId="ADAL" clId="{06D5B9EE-2AB6-4B57-884C-8F94BC8EDAD9}" dt="2026-08-09T09:16:48.807" v="64" actId="26606"/>
        <pc:sldMkLst>
          <pc:docMk/>
          <pc:sldMk cId="0" sldId="258"/>
        </pc:sldMkLst>
        <pc:spChg chg="mod">
          <ac:chgData name="Hegde, Saksha B" userId="021f0db9-47f0-4d1c-808b-2544d642bd47" providerId="ADAL" clId="{06D5B9EE-2AB6-4B57-884C-8F94BC8EDAD9}" dt="2026-08-09T09:16:48.807" v="64" actId="26606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">
        <pc:chgData name="Hegde, Saksha B" userId="021f0db9-47f0-4d1c-808b-2544d642bd47" providerId="ADAL" clId="{06D5B9EE-2AB6-4B57-884C-8F94BC8EDAD9}" dt="2026-08-09T09:16:48.807" v="64" actId="26606"/>
        <pc:sldMkLst>
          <pc:docMk/>
          <pc:sldMk cId="0" sldId="260"/>
        </pc:sldMkLst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9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16:48.807" v="64" actId="2660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31" creationId="{00000000-0000-0000-0000-000000000000}"/>
          </ac:spMkLst>
        </pc:spChg>
        <pc:spChg chg="add del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0"/>
            <ac:spMk id="33" creationId="{00000000-0000-0000-0000-000000000000}"/>
          </ac:spMkLst>
        </pc:spChg>
      </pc:sldChg>
      <pc:sldChg chg="addSp modSp mod">
        <pc:chgData name="Hegde, Saksha B" userId="021f0db9-47f0-4d1c-808b-2544d642bd47" providerId="ADAL" clId="{06D5B9EE-2AB6-4B57-884C-8F94BC8EDAD9}" dt="2026-08-09T09:09:36.572" v="1" actId="26606"/>
        <pc:sldMkLst>
          <pc:docMk/>
          <pc:sldMk cId="0" sldId="261"/>
        </pc:sldMkLst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17" creationId="{00000000-0000-0000-0000-000000000000}"/>
          </ac:spMkLst>
        </pc:spChg>
        <pc:spChg chg="add">
          <ac:chgData name="Hegde, Saksha B" userId="021f0db9-47f0-4d1c-808b-2544d642bd47" providerId="ADAL" clId="{06D5B9EE-2AB6-4B57-884C-8F94BC8EDAD9}" dt="2026-08-09T09:09:36.572" v="1" actId="26606"/>
          <ac:spMkLst>
            <pc:docMk/>
            <pc:sldMk cId="0" sldId="261"/>
            <ac:spMk id="21" creationId="{00000000-0000-0000-0000-000000000000}"/>
          </ac:spMkLst>
        </pc:spChg>
      </pc:sldChg>
      <pc:sldChg chg="add mod modShow">
        <pc:chgData name="Hegde, Saksha B" userId="021f0db9-47f0-4d1c-808b-2544d642bd47" providerId="ADAL" clId="{06D5B9EE-2AB6-4B57-884C-8F94BC8EDAD9}" dt="2026-08-09T09:19:01.044" v="67" actId="729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24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agittal brain scan glowing in blue beside a panel of smaller CT study images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71120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crim fa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1463040" cy="5143500"/>
          </a:xfrm>
          <a:prstGeom prst="rect">
            <a:avLst/>
          </a:prstGeom>
          <a:solidFill>
            <a:srgbClr val="07112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070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EMERGENCY CT TRIAGE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NeuroTriage AI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24871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suspected intracranial hemorrhage for faster clinical review</a:t>
            </a:r>
            <a:endParaRPr lang="en-US" sz="1650" dirty="0"/>
          </a:p>
        </p:txBody>
      </p:sp>
      <p:sp>
        <p:nvSpPr>
          <p:cNvPr id="8" name="Footer 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4480560" cy="822960"/>
          </a:xfrm>
          <a:prstGeom prst="rect">
            <a:avLst/>
          </a:prstGeom>
          <a:solidFill>
            <a:srgbClr val="0F1F35">
              <a:alpha val="85000"/>
            </a:srgbClr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34930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AI for Business  |  Management of AI products</a:t>
            </a:r>
          </a:p>
          <a:p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simulated/anonymized data — not for clinical use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worklist can become the bottleneck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457200" y="9966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brain CTs compete for attention in a busy radiology workflow.</a:t>
            </a:r>
            <a:endParaRPr lang="en-US" sz="1200" dirty="0"/>
          </a:p>
        </p:txBody>
      </p:sp>
      <p:sp>
        <p:nvSpPr>
          <p:cNvPr id="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17320"/>
            <a:ext cx="4709160" cy="78638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5453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C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517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volume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15568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CT studies may arrive within a short period.</a:t>
            </a:r>
            <a:endParaRPr lang="en-US" sz="1050" dirty="0"/>
          </a:p>
        </p:txBody>
      </p:sp>
      <p:sp>
        <p:nvSpPr>
          <p:cNvPr id="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13432"/>
            <a:ext cx="4709160" cy="78638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414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Unequal urgency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15568" y="2660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finding may be buried among routine examinations.</a:t>
            </a:r>
            <a:endParaRPr lang="en-US" sz="1050" dirty="0"/>
          </a:p>
        </p:txBody>
      </p:sp>
      <p:sp>
        <p:nvSpPr>
          <p:cNvPr id="1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09544"/>
            <a:ext cx="4709160" cy="78638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40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Time-sensitive decisions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15568" y="3557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intracranial hemorrhage requires rapid recognition and review.</a:t>
            </a:r>
            <a:endParaRPr lang="en-US" sz="1050" dirty="0"/>
          </a:p>
        </p:txBody>
      </p:sp>
      <p:pic>
        <p:nvPicPr>
          <p:cNvPr id="17" name="Image 0" descr="A long queue of CT studies in a dark reading room with one study highlighted in red"/>
          <p:cNvPicPr>
            <a:picLocks noChangeAspect="1"/>
          </p:cNvPicPr>
          <p:nvPr/>
        </p:nvPicPr>
        <p:blipFill>
          <a:blip r:embed="rId3"/>
          <a:srcRect l="19604" r="19604"/>
          <a:stretch/>
        </p:blipFill>
        <p:spPr>
          <a:xfrm>
            <a:off x="5440680" y="1417320"/>
            <a:ext cx="3246120" cy="2596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40680" y="40690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critical study, buried in the queue</a:t>
            </a:r>
            <a:endParaRPr lang="en-US" sz="950" dirty="0"/>
          </a:p>
        </p:txBody>
      </p:sp>
      <p:sp>
        <p:nvSpPr>
          <p:cNvPr id="19" name="Opportunity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343400"/>
            <a:ext cx="8229600" cy="402336"/>
          </a:xfrm>
          <a:prstGeom prst="rect">
            <a:avLst/>
          </a:prstGeom>
          <a:solidFill>
            <a:srgbClr val="0F1F35"/>
          </a:solidFill>
          <a:ln w="9525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8368" y="434340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 </a:t>
            </a:r>
            <a:r>
              <a:rPr lang="en-US" sz="1150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identify potentially critical studies early and bring them to the radiologist's attention sooner.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alphaModFix amt="12000"/>
          </a:blip>
          <a:srcRect l="202" r="20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patient arrival to diagnosis</a:t>
            </a:r>
            <a:endParaRPr lang="en-US" sz="2350" dirty="0"/>
          </a:p>
        </p:txBody>
      </p:sp>
      <p:sp>
        <p:nvSpPr>
          <p:cNvPr id="5" name="Journey ste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481328"/>
            <a:ext cx="969264" cy="96926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Ambula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545336"/>
            <a:ext cx="841248" cy="8412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208" y="250545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20624" y="2724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arrives by ambulance</a:t>
            </a:r>
            <a:endParaRPr lang="en-US" sz="90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9616" y="1883664"/>
            <a:ext cx="201168" cy="164592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Journey ste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9928" y="1481328"/>
            <a:ext cx="969264" cy="96926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CT scann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936" y="1545336"/>
            <a:ext cx="841248" cy="8412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09928" y="250545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609344" y="2724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 performed</a:t>
            </a:r>
            <a:endParaRPr lang="en-US" sz="900" dirty="0"/>
          </a:p>
        </p:txBody>
      </p:sp>
      <p:sp>
        <p:nvSpPr>
          <p:cNvPr id="1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88336" y="1883664"/>
            <a:ext cx="201168" cy="164592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Journey ste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98648" y="1481328"/>
            <a:ext cx="969264" cy="96926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Stack of medical image fi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656" y="1545336"/>
            <a:ext cx="841248" cy="8412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98648" y="250545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2798064" y="2724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data captured</a:t>
            </a:r>
            <a:endParaRPr lang="en-US" sz="90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7056" y="1883664"/>
            <a:ext cx="201168" cy="164592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Journey ste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7368" y="1481328"/>
            <a:ext cx="969264" cy="96926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Database server sta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1376" y="1545336"/>
            <a:ext cx="841248" cy="8412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87368" y="250545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986784" y="2724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PACS</a:t>
            </a:r>
            <a:endParaRPr lang="en-US" sz="900" dirty="0"/>
          </a:p>
        </p:txBody>
      </p:sp>
      <p:sp>
        <p:nvSpPr>
          <p:cNvPr id="2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5776" y="1883664"/>
            <a:ext cx="201168" cy="164592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Journey ste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6088" y="1481328"/>
            <a:ext cx="969264" cy="969264"/>
          </a:xfrm>
          <a:prstGeom prst="rect">
            <a:avLst/>
          </a:prstGeom>
          <a:solidFill>
            <a:srgbClr val="13273F"/>
          </a:solidFill>
          <a:ln w="1905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Monitor showing a brain scan beside a prioritized lis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096" y="1545336"/>
            <a:ext cx="841248" cy="8412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76088" y="250545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C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175504" y="2724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analyzes &amp; prioritizes worklist</a:t>
            </a:r>
            <a:endParaRPr lang="en-US" sz="900" dirty="0"/>
          </a:p>
        </p:txBody>
      </p:sp>
      <p:sp>
        <p:nvSpPr>
          <p:cNvPr id="2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1883664"/>
            <a:ext cx="201168" cy="164592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Journey ste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4808" y="1481328"/>
            <a:ext cx="969264" cy="96926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6" descr="Doctor reviewing a scree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16" y="1545336"/>
            <a:ext cx="841248" cy="8412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64808" y="250545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364224" y="2724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reviews prioritized study</a:t>
            </a:r>
            <a:endParaRPr lang="en-US" sz="900" dirty="0"/>
          </a:p>
        </p:txBody>
      </p:sp>
      <p:sp>
        <p:nvSpPr>
          <p:cNvPr id="3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43216" y="1883664"/>
            <a:ext cx="201168" cy="164592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Journey ste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53528" y="1481328"/>
            <a:ext cx="969264" cy="969264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Report document with a checkmar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7536" y="1545336"/>
            <a:ext cx="841248" cy="84124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653528" y="250545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7552944" y="2724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finalized &amp; shared with care team</a:t>
            </a:r>
            <a:endParaRPr lang="en-US" sz="900" dirty="0"/>
          </a:p>
        </p:txBody>
      </p:sp>
      <p:sp>
        <p:nvSpPr>
          <p:cNvPr id="3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12464"/>
            <a:ext cx="4206240" cy="868680"/>
          </a:xfrm>
          <a:prstGeom prst="rect">
            <a:avLst/>
          </a:prstGeom>
          <a:solidFill>
            <a:srgbClr val="0F1F35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/>
          <p:nvPr/>
        </p:nvSpPr>
        <p:spPr>
          <a:xfrm>
            <a:off x="640080" y="380390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PACS?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Archiving and Communication System — the hospital imaging system that stores, manages and delivers medical images to the right people at the right time.</a:t>
            </a:r>
            <a:endParaRPr lang="en-US" sz="950" dirty="0"/>
          </a:p>
        </p:txBody>
      </p:sp>
      <p:sp>
        <p:nvSpPr>
          <p:cNvPr id="4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3712464"/>
            <a:ext cx="3858768" cy="868680"/>
          </a:xfrm>
          <a:prstGeom prst="rect">
            <a:avLst/>
          </a:prstGeom>
          <a:solidFill>
            <a:srgbClr val="0F1F35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/>
          <p:nvPr/>
        </p:nvSpPr>
        <p:spPr>
          <a:xfrm>
            <a:off x="5010912" y="3803904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sits inside this journey — it does not replace PACS or the radiologist, it surfaces potentially urgent studies sooner.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44" name="Text 34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image analysis to actionable prioritization</a:t>
            </a:r>
            <a:endParaRPr lang="en-US" sz="2350" dirty="0"/>
          </a:p>
        </p:txBody>
      </p:sp>
      <p:sp>
        <p:nvSpPr>
          <p:cNvPr id="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54480"/>
            <a:ext cx="1883664" cy="187452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92224"/>
            <a:ext cx="457200" cy="457200"/>
          </a:xfrm>
          <a:prstGeom prst="ellipse">
            <a:avLst/>
          </a:prstGeom>
          <a:solidFill>
            <a:srgbClr val="35C0E8">
              <a:alpha val="22000"/>
            </a:srgbClr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5C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39572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suggestive of intracranial hemorrhage.</a:t>
            </a:r>
            <a:endParaRPr lang="en-US" sz="105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86584" y="2391156"/>
            <a:ext cx="201168" cy="201168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3472" y="1554480"/>
            <a:ext cx="1883664" cy="187452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34640" y="1792224"/>
            <a:ext cx="457200" cy="457200"/>
          </a:xfrm>
          <a:prstGeom prst="ellipse">
            <a:avLst/>
          </a:prstGeom>
          <a:solidFill>
            <a:srgbClr val="4F8EF7">
              <a:alpha val="2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39572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34640" y="272491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finding, confidence and location.</a:t>
            </a:r>
            <a:endParaRPr lang="en-US" sz="10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2856" y="2391156"/>
            <a:ext cx="201168" cy="201168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9744" y="1554480"/>
            <a:ext cx="1883664" cy="187452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10912" y="1792224"/>
            <a:ext cx="457200" cy="457200"/>
          </a:xfrm>
          <a:prstGeom prst="ellipse">
            <a:avLst/>
          </a:prstGeom>
          <a:solidFill>
            <a:srgbClr val="E8A33D">
              <a:alpha val="2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10912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10912" y="239572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10912" y="272491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assessment into Critical / High / Moderate / Routine priority.</a:t>
            </a:r>
            <a:endParaRPr lang="en-US" sz="1050" dirty="0"/>
          </a:p>
        </p:txBody>
      </p:sp>
      <p:sp>
        <p:nvSpPr>
          <p:cNvPr id="2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39128" y="2391156"/>
            <a:ext cx="201168" cy="201168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86016" y="1554480"/>
            <a:ext cx="1883664" cy="187452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87184" y="1792224"/>
            <a:ext cx="457200" cy="457200"/>
          </a:xfrm>
          <a:prstGeom prst="ellipse">
            <a:avLst/>
          </a:prstGeom>
          <a:solidFill>
            <a:srgbClr val="2DD4BF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87184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87184" y="239572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87184" y="272491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case forward for human review.</a:t>
            </a:r>
            <a:endParaRPr lang="en-US" sz="1050" dirty="0"/>
          </a:p>
        </p:txBody>
      </p:sp>
      <p:sp>
        <p:nvSpPr>
          <p:cNvPr id="27" name="Summary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0F1F35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value is not simply detecting an abnormality — </a:t>
            </a:r>
            <a:r>
              <a:rPr lang="en-US" sz="13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helping the right case receive attention at the right time.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DECISION LOOP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supports a human-in-the-loop decision</a:t>
            </a:r>
            <a:endParaRPr lang="en-US" sz="2350" dirty="0"/>
          </a:p>
        </p:txBody>
      </p:sp>
      <p:sp>
        <p:nvSpPr>
          <p:cNvPr id="4" name="Loop 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solidFill>
            <a:srgbClr val="13273F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Study</a:t>
            </a:r>
            <a:endParaRPr lang="en-US" sz="1100" dirty="0"/>
          </a:p>
        </p:txBody>
      </p:sp>
      <p:sp>
        <p:nvSpPr>
          <p:cNvPr id="6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0200" y="1947672"/>
            <a:ext cx="182880" cy="155448"/>
          </a:xfrm>
          <a:prstGeom prst="down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oop 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29968"/>
            <a:ext cx="2286000" cy="457200"/>
          </a:xfrm>
          <a:prstGeom prst="rect">
            <a:avLst/>
          </a:prstGeom>
          <a:solidFill>
            <a:srgbClr val="13273F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</a:t>
            </a:r>
            <a:endParaRPr lang="en-US" sz="110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0200" y="2514600"/>
            <a:ext cx="182880" cy="155448"/>
          </a:xfrm>
          <a:prstGeom prst="down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oop 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96896"/>
            <a:ext cx="2286000" cy="457200"/>
          </a:xfrm>
          <a:prstGeom prst="rect">
            <a:avLst/>
          </a:prstGeom>
          <a:solidFill>
            <a:srgbClr val="13273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968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+ Confidence + Location</a:t>
            </a:r>
            <a:endParaRPr lang="en-US" sz="1100" dirty="0"/>
          </a:p>
        </p:txBody>
      </p:sp>
      <p:sp>
        <p:nvSpPr>
          <p:cNvPr id="1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0200" y="3081528"/>
            <a:ext cx="182880" cy="155448"/>
          </a:xfrm>
          <a:prstGeom prst="down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oop 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63824"/>
            <a:ext cx="2286000" cy="457200"/>
          </a:xfrm>
          <a:prstGeom prst="rect">
            <a:avLst/>
          </a:prstGeom>
          <a:solidFill>
            <a:srgbClr val="13273F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638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0200" y="3648456"/>
            <a:ext cx="182880" cy="155448"/>
          </a:xfrm>
          <a:prstGeom prst="down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view 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30752"/>
            <a:ext cx="2286000" cy="457200"/>
          </a:xfrm>
          <a:prstGeom prst="rect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30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Review</a:t>
            </a:r>
            <a:endParaRPr lang="en-US" sz="1150" dirty="0"/>
          </a:p>
        </p:txBody>
      </p:sp>
      <p:sp>
        <p:nvSpPr>
          <p:cNvPr id="18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3867912"/>
            <a:ext cx="201168" cy="182880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onfirm branc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3456432"/>
            <a:ext cx="1417320" cy="457200"/>
          </a:xfrm>
          <a:prstGeom prst="rect">
            <a:avLst/>
          </a:prstGeom>
          <a:solidFill>
            <a:srgbClr val="13273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46120" y="34564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 dirty="0"/>
          </a:p>
        </p:txBody>
      </p:sp>
      <p:sp>
        <p:nvSpPr>
          <p:cNvPr id="21" name="Override branc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4041648"/>
            <a:ext cx="1417320" cy="457200"/>
          </a:xfrm>
          <a:prstGeom prst="rect">
            <a:avLst/>
          </a:prstGeom>
          <a:solidFill>
            <a:srgbClr val="13273F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4041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100" dirty="0"/>
          </a:p>
        </p:txBody>
      </p:sp>
      <p:sp>
        <p:nvSpPr>
          <p:cNvPr id="23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602736"/>
            <a:ext cx="201168" cy="182880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4187952"/>
            <a:ext cx="201168" cy="182880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eedback 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3480" y="3657600"/>
            <a:ext cx="1417320" cy="640080"/>
          </a:xfrm>
          <a:prstGeom prst="rect">
            <a:avLst/>
          </a:prstGeom>
          <a:solidFill>
            <a:srgbClr val="0F1F35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3657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opportunity</a:t>
            </a:r>
            <a:endParaRPr lang="en-US" sz="950" dirty="0"/>
          </a:p>
        </p:txBody>
      </p:sp>
      <p:sp>
        <p:nvSpPr>
          <p:cNvPr id="2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1463040"/>
            <a:ext cx="2057400" cy="3108960"/>
          </a:xfrm>
          <a:prstGeom prst="rect">
            <a:avLst/>
          </a:prstGeom>
          <a:solidFill>
            <a:srgbClr val="0F1F35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12280" y="1627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remains accountable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12280" y="2194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decision support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reviews the evidence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can override the AI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captured</a:t>
            </a:r>
            <a:endParaRPr lang="en-US" sz="1100" dirty="0"/>
          </a:p>
        </p:txBody>
      </p:sp>
      <p:sp>
        <p:nvSpPr>
          <p:cNvPr id="30" name="Text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working MVP — not just a concept</a:t>
            </a:r>
            <a:endParaRPr lang="en-US" sz="2350" dirty="0"/>
          </a:p>
        </p:txBody>
      </p:sp>
      <p:sp>
        <p:nvSpPr>
          <p:cNvPr id="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89888"/>
            <a:ext cx="2688336" cy="2359152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lumn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89888"/>
            <a:ext cx="2688336" cy="64008"/>
          </a:xfrm>
          <a:prstGeom prst="rect">
            <a:avLst/>
          </a:prstGeom>
          <a:solidFill>
            <a:srgbClr val="35C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Realistic data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993392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DICOM CT studies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real study datasets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ICH-positive cases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normal cases</a:t>
            </a:r>
            <a:endParaRPr lang="en-US" sz="1100" dirty="0"/>
          </a:p>
        </p:txBody>
      </p:sp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0712" y="1389888"/>
            <a:ext cx="2688336" cy="2359152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lumn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0712" y="1389888"/>
            <a:ext cx="2688336" cy="64008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workflow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1993392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assessment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classification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Hemorrhage location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worklist reprioritization</a:t>
            </a:r>
            <a:endParaRPr lang="en-US" sz="110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4224" y="1389888"/>
            <a:ext cx="2688336" cy="2359152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olumn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4224" y="1389888"/>
            <a:ext cx="2688336" cy="6400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65392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experience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5392" y="1993392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slice navigation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overlay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Finding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/ Blood-ICH windowing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Override</a:t>
            </a:r>
            <a:endParaRPr lang="en-US" sz="1100" dirty="0"/>
          </a:p>
        </p:txBody>
      </p:sp>
      <p:sp>
        <p:nvSpPr>
          <p:cNvPr id="16" name="Summary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77056"/>
            <a:ext cx="8229600" cy="475488"/>
          </a:xfrm>
          <a:prstGeom prst="rect">
            <a:avLst/>
          </a:prstGeom>
          <a:solidFill>
            <a:srgbClr val="0F1F35"/>
          </a:solidFill>
          <a:ln w="9525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87705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demonstrates the end-to-end product workflow, from CT study arrival to clinician decision.</a:t>
            </a:r>
            <a:endParaRPr lang="en-US" sz="1200" dirty="0"/>
          </a:p>
        </p:txBody>
      </p:sp>
      <p:sp>
        <p:nvSpPr>
          <p:cNvPr id="18" name="Not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425696"/>
            <a:ext cx="8229600" cy="347472"/>
          </a:xfrm>
          <a:prstGeom prst="rect">
            <a:avLst/>
          </a:prstGeom>
          <a:solidFill>
            <a:srgbClr val="0F1F35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4256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is simulated for this prototype; the workflow is designed to support a future validated AI inference service.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INTELLIGENT WORKLIST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cases rise to the top</a:t>
            </a:r>
            <a:endParaRPr lang="en-US" sz="2350" dirty="0"/>
          </a:p>
        </p:txBody>
      </p:sp>
      <p:sp>
        <p:nvSpPr>
          <p:cNvPr id="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5532120" cy="2606040"/>
          </a:xfrm>
          <a:prstGeom prst="rect">
            <a:avLst/>
          </a:prstGeom>
          <a:solidFill>
            <a:srgbClr val="0A1524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630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Brain Worklist  ·  prototype screen</a:t>
            </a:r>
            <a:endParaRPr lang="en-US" sz="950" dirty="0"/>
          </a:p>
        </p:txBody>
      </p:sp>
      <p:pic>
        <p:nvPicPr>
          <p:cNvPr id="6" name="Image 0" descr="Prototype CT Brain Worklist screen listing five completed studies with AI priority labels: Jordan Ellis and Wei Zhang critical, Priya Nair high, Ahmed Farouk moderate, Maria Castillo rout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5143"/>
            <a:ext cx="5312664" cy="2044130"/>
          </a:xfrm>
          <a:prstGeom prst="rect">
            <a:avLst/>
          </a:prstGeom>
        </p:spPr>
      </p:pic>
      <p:sp>
        <p:nvSpPr>
          <p:cNvPr id="7" name="Priority lege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371600"/>
            <a:ext cx="2514600" cy="420624"/>
          </a:xfrm>
          <a:prstGeom prst="rect">
            <a:avLst/>
          </a:prstGeom>
          <a:solidFill>
            <a:srgbClr val="13273F"/>
          </a:solidFill>
          <a:ln w="12700">
            <a:solidFill>
              <a:srgbClr val="E44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91072" y="13716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immediate attention</a:t>
            </a:r>
            <a:endParaRPr lang="en-US" sz="1050" dirty="0"/>
          </a:p>
        </p:txBody>
      </p:sp>
      <p:sp>
        <p:nvSpPr>
          <p:cNvPr id="9" name="Priority lege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874520"/>
            <a:ext cx="2514600" cy="420624"/>
          </a:xfrm>
          <a:prstGeom prst="rect">
            <a:avLst/>
          </a:prstGeom>
          <a:solidFill>
            <a:srgbClr val="13273F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91072" y="18745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</a:t>
            </a: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elevated priority</a:t>
            </a:r>
            <a:endParaRPr lang="en-US" sz="1050" dirty="0"/>
          </a:p>
        </p:txBody>
      </p:sp>
      <p:sp>
        <p:nvSpPr>
          <p:cNvPr id="11" name="Priority lege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377440"/>
            <a:ext cx="2514600" cy="420624"/>
          </a:xfrm>
          <a:prstGeom prst="rect">
            <a:avLst/>
          </a:prstGeom>
          <a:solidFill>
            <a:srgbClr val="13273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91072" y="23774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</a:t>
            </a: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routine escalation</a:t>
            </a:r>
            <a:endParaRPr lang="en-US" sz="1050" dirty="0"/>
          </a:p>
        </p:txBody>
      </p:sp>
      <p:sp>
        <p:nvSpPr>
          <p:cNvPr id="13" name="Priority lege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880360"/>
            <a:ext cx="2514600" cy="420624"/>
          </a:xfrm>
          <a:prstGeom prst="rect">
            <a:avLst/>
          </a:prstGeom>
          <a:solidFill>
            <a:srgbClr val="13273F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91072" y="28803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 </a:t>
            </a: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 workflow</a:t>
            </a:r>
            <a:endParaRPr lang="en-US" sz="1050" dirty="0"/>
          </a:p>
        </p:txBody>
      </p:sp>
      <p:sp>
        <p:nvSpPr>
          <p:cNvPr id="15" name="Reprioritization 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3429000"/>
            <a:ext cx="2514600" cy="548640"/>
          </a:xfrm>
          <a:prstGeom prst="rect">
            <a:avLst/>
          </a:prstGeom>
          <a:solidFill>
            <a:srgbClr val="0F1F35"/>
          </a:solidFill>
          <a:ln w="9525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81928" y="342900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New CT Study → the worklist reorders automatically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studies become available, the worklist automatically reprioritizes based on the AI assessment. Screen shown is the working prototype with simulated, anonymized studies.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READING EXPERIENCE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“something is urgent” to “show me where”</a:t>
            </a:r>
            <a:endParaRPr lang="en-US" sz="2350" dirty="0"/>
          </a:p>
        </p:txBody>
      </p:sp>
      <p:sp>
        <p:nvSpPr>
          <p:cNvPr id="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3200400" cy="2697480"/>
          </a:xfrm>
          <a:prstGeom prst="rect">
            <a:avLst/>
          </a:prstGeom>
          <a:solidFill>
            <a:srgbClr val="05101C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Axial brain CT with an orange heat overlay marking a region in the left parietal lob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86" y="1463040"/>
            <a:ext cx="2143827" cy="2514600"/>
          </a:xfrm>
          <a:prstGeom prst="rect">
            <a:avLst/>
          </a:prstGeom>
        </p:spPr>
      </p:pic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0208" y="1371600"/>
            <a:ext cx="4736592" cy="804672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llout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0208" y="1371600"/>
            <a:ext cx="64008" cy="804672"/>
          </a:xfrm>
          <a:prstGeom prst="rect">
            <a:avLst/>
          </a:prstGeom>
          <a:solidFill>
            <a:srgbClr val="E44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87952" y="14813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AI Assessment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87952" y="17556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ICH  ·  93% confidence</a:t>
            </a:r>
            <a:endParaRPr lang="en-US" sz="110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0208" y="2304288"/>
            <a:ext cx="4736592" cy="804672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llout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0208" y="2304288"/>
            <a:ext cx="64008" cy="804672"/>
          </a:xfrm>
          <a:prstGeom prst="rect">
            <a:avLst/>
          </a:prstGeom>
          <a:solidFill>
            <a:srgbClr val="35C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87952" y="24140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Explainable location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87952" y="26883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parietal lobe</a:t>
            </a:r>
            <a:endParaRPr lang="en-US" sz="110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0208" y="3236976"/>
            <a:ext cx="4736592" cy="804672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llout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0208" y="3236976"/>
            <a:ext cx="64008" cy="80467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87952" y="33467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Jump to Finding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187952" y="36210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takes the reviewer directly to the highlighted slice.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↔ Blood/ICH windowing allows the reviewer to inspect the finding under different display settings.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recommends. The clinician decides.</a:t>
            </a:r>
            <a:endParaRPr lang="en-US" sz="2350" dirty="0"/>
          </a:p>
        </p:txBody>
      </p:sp>
      <p:sp>
        <p:nvSpPr>
          <p:cNvPr id="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63040"/>
            <a:ext cx="2688336" cy="242316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le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0472" y="1682496"/>
            <a:ext cx="621792" cy="621792"/>
          </a:xfrm>
          <a:prstGeom prst="ellipse">
            <a:avLst/>
          </a:prstGeom>
          <a:solidFill>
            <a:srgbClr val="35C0E8">
              <a:alpha val="20000"/>
            </a:srgbClr>
          </a:solidFill>
          <a:ln w="15875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90472" y="16824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5C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2048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indication</a:t>
            </a:r>
            <a:endParaRPr lang="en-US" sz="1150" dirty="0"/>
          </a:p>
        </p:txBody>
      </p:sp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0712" y="1463040"/>
            <a:ext cx="2688336" cy="242316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le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3984" y="1682496"/>
            <a:ext cx="621792" cy="621792"/>
          </a:xfrm>
          <a:prstGeom prst="ellipse">
            <a:avLst/>
          </a:prstGeom>
          <a:solidFill>
            <a:srgbClr val="2DD4BF">
              <a:alpha val="20000"/>
            </a:srgbClr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43984" y="16824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22192" y="2487168"/>
            <a:ext cx="2048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15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4224" y="1463040"/>
            <a:ext cx="2688336" cy="242316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le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97496" y="1682496"/>
            <a:ext cx="621792" cy="621792"/>
          </a:xfrm>
          <a:prstGeom prst="ellipse">
            <a:avLst/>
          </a:prstGeom>
          <a:solidFill>
            <a:srgbClr val="4F8EF7">
              <a:alpha val="20000"/>
            </a:srgbClr>
          </a:solidFill>
          <a:ln w="15875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97496" y="16824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75704" y="2487168"/>
            <a:ext cx="2048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feedback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workflow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uncertainty</a:t>
            </a:r>
            <a:endParaRPr lang="en-US" sz="1150" dirty="0"/>
          </a:p>
        </p:txBody>
      </p:sp>
      <p:sp>
        <p:nvSpPr>
          <p:cNvPr id="16" name="Summary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0F1F35"/>
          </a:solidFill>
          <a:ln w="9525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deliberately avoids presenting AI output as a final diagnosis.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CUSTOMER VALUE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value could NeuroTriage AI create?</a:t>
            </a:r>
            <a:endParaRPr lang="en-US" sz="2350" dirty="0"/>
          </a:p>
        </p:txBody>
      </p:sp>
      <p:sp>
        <p:nvSpPr>
          <p:cNvPr id="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1874520" cy="123444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Value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1874520" cy="54864"/>
          </a:xfrm>
          <a:prstGeom prst="rect">
            <a:avLst/>
          </a:prstGeom>
          <a:solidFill>
            <a:srgbClr val="E44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5544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440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792" y="1874520"/>
            <a:ext cx="1545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faster identification of urgent cases.</a:t>
            </a:r>
            <a:endParaRPr lang="en-US" sz="1050" dirty="0"/>
          </a:p>
        </p:txBody>
      </p:sp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5865" y="1371600"/>
            <a:ext cx="1874520" cy="123444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Value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5865" y="1371600"/>
            <a:ext cx="1874520" cy="5486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0457" y="15544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Clinician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40457" y="1874520"/>
            <a:ext cx="1545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effort in finding high-priority examinations.</a:t>
            </a:r>
            <a:endParaRPr lang="en-US" sz="105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4530" y="1371600"/>
            <a:ext cx="1874520" cy="123444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Value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4530" y="1371600"/>
            <a:ext cx="1874520" cy="54864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59122" y="15544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9122" y="1874520"/>
            <a:ext cx="1545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 use of radiology capacity.</a:t>
            </a:r>
            <a:endParaRPr lang="en-US" sz="105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3194" y="1371600"/>
            <a:ext cx="1874520" cy="123444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Value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3194" y="1371600"/>
            <a:ext cx="1874520" cy="54864"/>
          </a:xfrm>
          <a:prstGeom prst="rect">
            <a:avLst/>
          </a:prstGeom>
          <a:solidFill>
            <a:srgbClr val="35C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77786" y="155448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C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7786" y="1874520"/>
            <a:ext cx="1545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platform for AI-assisted workflow products.</a:t>
            </a:r>
            <a:endParaRPr lang="en-US" sz="1050" dirty="0"/>
          </a:p>
        </p:txBody>
      </p:sp>
      <p:sp>
        <p:nvSpPr>
          <p:cNvPr id="2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88920"/>
            <a:ext cx="8229600" cy="1298448"/>
          </a:xfrm>
          <a:prstGeom prst="rect">
            <a:avLst/>
          </a:prstGeom>
          <a:solidFill>
            <a:srgbClr val="0F1F35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 pilot KPIs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32186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study completion → radiologist review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review of suspected ICH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/ false-negative rate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32186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/ usage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radiologist workflow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proposed success measures — they were not validated by this prototype.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LIMITATIONS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successful prototype is not a clinical validation</a:t>
            </a:r>
            <a:endParaRPr lang="en-US" sz="2350" dirty="0"/>
          </a:p>
        </p:txBody>
      </p:sp>
      <p:sp>
        <p:nvSpPr>
          <p:cNvPr id="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69080" cy="274320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lumn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69080" cy="6400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36576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anonymized CT DICOM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Window/level handling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AI-style prioritization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confirmation / override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 reprioritization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visual indication</a:t>
            </a:r>
            <a:endParaRPr lang="en-US" sz="1100" dirty="0"/>
          </a:p>
        </p:txBody>
      </p:sp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371600"/>
            <a:ext cx="4069080" cy="274320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lumn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371600"/>
            <a:ext cx="4069080" cy="6400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yet demonstrated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938528"/>
            <a:ext cx="36576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diagnostic performance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across populations and scanners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clinical benefit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clearance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Production-scale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outcome improvement</a:t>
            </a:r>
            <a:endParaRPr lang="en-US" sz="1100" dirty="0"/>
          </a:p>
        </p:txBody>
      </p:sp>
      <p:sp>
        <p:nvSpPr>
          <p:cNvPr id="12" name="Summary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0F1F35"/>
          </a:solidFill>
          <a:ln w="9525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validates the product concept and workflow — not clinical efficacy.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alphaModFix amt="16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ROADMAP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prototype to controlled pilot</a:t>
            </a:r>
            <a:endParaRPr lang="en-US" sz="2350" dirty="0"/>
          </a:p>
        </p:txBody>
      </p:sp>
      <p:sp>
        <p:nvSpPr>
          <p:cNvPr id="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1874520" cy="228600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age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1874520" cy="6400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792" y="157276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— Prototype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" y="2084832"/>
            <a:ext cx="1545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validated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DICOM demonstrated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interaction</a:t>
            </a:r>
            <a:endParaRPr lang="en-US" sz="100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50008" y="2423160"/>
            <a:ext cx="201168" cy="182880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5865" y="1371600"/>
            <a:ext cx="1874520" cy="228600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age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5865" y="1371600"/>
            <a:ext cx="1874520" cy="64008"/>
          </a:xfrm>
          <a:prstGeom prst="rect">
            <a:avLst/>
          </a:prstGeom>
          <a:solidFill>
            <a:srgbClr val="35C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0457" y="157276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C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— Technical validation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740457" y="2084832"/>
            <a:ext cx="1545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expansion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/ false-negative analysis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000" dirty="0"/>
          </a:p>
        </p:txBody>
      </p:sp>
      <p:sp>
        <p:nvSpPr>
          <p:cNvPr id="1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8673" y="2423160"/>
            <a:ext cx="201168" cy="182880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4530" y="1371600"/>
            <a:ext cx="1874520" cy="228600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age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4530" y="1371600"/>
            <a:ext cx="1874520" cy="64008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59122" y="157276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— Controlled clinical pilot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859122" y="2084832"/>
            <a:ext cx="1545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integration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evaluation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performance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00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7338" y="2423160"/>
            <a:ext cx="201168" cy="182880"/>
          </a:xfrm>
          <a:prstGeom prst="rightArrow">
            <a:avLst/>
          </a:prstGeom>
          <a:solidFill>
            <a:srgbClr val="35C0E8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3194" y="1371600"/>
            <a:ext cx="1874520" cy="2286000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age colou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3194" y="1371600"/>
            <a:ext cx="1874520" cy="6400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977786" y="157276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— Scale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977786" y="2084832"/>
            <a:ext cx="1545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 / workflow integration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000" dirty="0"/>
          </a:p>
        </p:txBody>
      </p:sp>
      <p:sp>
        <p:nvSpPr>
          <p:cNvPr id="24" name="Recommendation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0F1F35"/>
          </a:solidFill>
          <a:ln w="12700">
            <a:solidFill>
              <a:srgbClr val="35C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5800" y="3840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controlled validation, with clinical performance, workflow impact, safety and regulatory requirements treated as explicit stage gates.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assessment + confidence → priority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457200" y="9966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prototype translates an assessment and its confidence into a worklist priority</a:t>
            </a:r>
            <a:endParaRPr lang="en-US" sz="1200" dirty="0"/>
          </a:p>
        </p:txBody>
      </p:sp>
      <p:sp>
        <p:nvSpPr>
          <p:cNvPr id="5" name="Tabl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44752"/>
            <a:ext cx="8229600" cy="384048"/>
          </a:xfrm>
          <a:prstGeom prst="rect">
            <a:avLst/>
          </a:prstGeom>
          <a:solidFill>
            <a:srgbClr val="0F1F35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44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360" y="1444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444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 PRIORITY</a:t>
            </a:r>
            <a:endParaRPr lang="en-US" sz="1000" dirty="0"/>
          </a:p>
        </p:txBody>
      </p:sp>
      <p:sp>
        <p:nvSpPr>
          <p:cNvPr id="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28800"/>
            <a:ext cx="8229600" cy="475488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8288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ICH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18288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≥ 80%</a:t>
            </a:r>
            <a:endParaRPr lang="en-US" sz="1200" dirty="0"/>
          </a:p>
        </p:txBody>
      </p:sp>
      <p:sp>
        <p:nvSpPr>
          <p:cNvPr id="12" name="Priority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997964"/>
            <a:ext cx="137160" cy="137160"/>
          </a:xfrm>
          <a:prstGeom prst="ellipse">
            <a:avLst/>
          </a:prstGeom>
          <a:solidFill>
            <a:srgbClr val="E44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38544" y="1828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40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25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04288"/>
            <a:ext cx="8229600" cy="475488"/>
          </a:xfrm>
          <a:prstGeom prst="rect">
            <a:avLst/>
          </a:prstGeom>
          <a:solidFill>
            <a:srgbClr val="10223A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3042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ICH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23042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&lt; 80%</a:t>
            </a:r>
            <a:endParaRPr lang="en-US" sz="1200" dirty="0"/>
          </a:p>
        </p:txBody>
      </p:sp>
      <p:sp>
        <p:nvSpPr>
          <p:cNvPr id="17" name="Priority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473452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38544" y="23042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250" dirty="0"/>
          </a:p>
        </p:txBody>
      </p:sp>
      <p:sp>
        <p:nvSpPr>
          <p:cNvPr id="1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79776"/>
            <a:ext cx="8229600" cy="475488"/>
          </a:xfrm>
          <a:prstGeom prst="rect">
            <a:avLst/>
          </a:prstGeom>
          <a:solidFill>
            <a:srgbClr val="13273F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27797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suspicious findings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27797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&lt; 80%</a:t>
            </a:r>
            <a:endParaRPr lang="en-US" sz="1200" dirty="0"/>
          </a:p>
        </p:txBody>
      </p:sp>
      <p:sp>
        <p:nvSpPr>
          <p:cNvPr id="22" name="Priority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948940"/>
            <a:ext cx="137160" cy="13716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38544" y="27797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</a:t>
            </a:r>
            <a:endParaRPr lang="en-US" sz="1250" dirty="0"/>
          </a:p>
        </p:txBody>
      </p:sp>
      <p:sp>
        <p:nvSpPr>
          <p:cNvPr id="2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55264"/>
            <a:ext cx="8229600" cy="475488"/>
          </a:xfrm>
          <a:prstGeom prst="rect">
            <a:avLst/>
          </a:prstGeom>
          <a:solidFill>
            <a:srgbClr val="10223A"/>
          </a:solidFill>
          <a:ln w="9525">
            <a:solidFill>
              <a:srgbClr val="2340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325526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suspicious findings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0" y="32552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&gt; 80%</a:t>
            </a:r>
            <a:endParaRPr lang="en-US" sz="1200" dirty="0"/>
          </a:p>
        </p:txBody>
      </p:sp>
      <p:sp>
        <p:nvSpPr>
          <p:cNvPr id="27" name="Priority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3424428"/>
            <a:ext cx="137160" cy="137160"/>
          </a:xfrm>
          <a:prstGeom prst="ellipse">
            <a:avLst/>
          </a:prstGeom>
          <a:solidFill>
            <a:srgbClr val="7A8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38544" y="32552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3877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explains why the worklist is ordered the way it is.</a:t>
            </a:r>
            <a:endParaRPr lang="en-US" sz="1200" dirty="0"/>
          </a:p>
        </p:txBody>
      </p:sp>
      <p:sp>
        <p:nvSpPr>
          <p:cNvPr id="30" name="Cavea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0F1F35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4206240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prioritization rule — thresholds are configurable and not clinically validated.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NeuroTriage AI  ·  Prototype — simulated/anonymized data — not for clinical use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1126</Words>
  <Application>Microsoft Office PowerPoint</Application>
  <PresentationFormat>On-screen Show (16:9)</PresentationFormat>
  <Paragraphs>241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Hegde, Saksha B</dc:creator>
  <cp:lastModifiedBy>Hegde, Saksha B</cp:lastModifiedBy>
  <cp:revision>2</cp:revision>
  <dcterms:created xsi:type="dcterms:W3CDTF">2026-08-09T08:29:43Z</dcterms:created>
  <dcterms:modified xsi:type="dcterms:W3CDTF">2026-08-09T09:19:03Z</dcterms:modified>
</cp:coreProperties>
</file>